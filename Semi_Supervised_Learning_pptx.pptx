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r>
              <a:rPr>
                <a:solidFill>
                  <a:srgbClr val="DCE6F2"/>
                </a:solidFill>
                <a:latin typeface="Aptos"/>
                <a:sym typeface="+mn-ea"/>
              </a:rPr>
              <a:t>Learning from a small set of labels + a large pool of unlabeled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tos"/>
              </a:rPr>
              <a:t>Semi-Supervised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625" y="3905250"/>
            <a:ext cx="10332720" cy="673735"/>
          </a:xfrm>
          <a:prstGeom prst="rect">
            <a:avLst/>
          </a:prstGeom>
          <a:noFill/>
        </p:spPr>
        <p:txBody>
          <a:bodyPr wrap="square" lIns="164592" tIns="91440" rIns="164592" bIns="91440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2800" u="sng">
                <a:solidFill>
                  <a:srgbClr val="DCE6F2"/>
                </a:solidFill>
                <a:latin typeface="Aptos"/>
              </a:rPr>
              <a:t>Presented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00575"/>
            <a:ext cx="10332720" cy="1997075"/>
          </a:xfrm>
          <a:prstGeom prst="rect">
            <a:avLst/>
          </a:prstGeom>
          <a:noFill/>
        </p:spPr>
        <p:txBody>
          <a:bodyPr wrap="square" lIns="164592" tIns="91440" rIns="164592" bIns="91440">
            <a:noAutofit/>
          </a:bodyPr>
          <a:lstStyle/>
          <a:p>
            <a:pPr algn="r">
              <a:spcAft>
                <a:spcPts val="0"/>
              </a:spcAft>
            </a:pPr>
            <a:r>
              <a:rPr sz="3200" b="1" dirty="0">
                <a:solidFill>
                  <a:srgbClr val="FFFFFF"/>
                </a:solidFill>
                <a:latin typeface="Aptos"/>
              </a:rPr>
              <a:t>Annap</a:t>
            </a:r>
            <a:r>
              <a:rPr lang="en-US" sz="3200" b="1" dirty="0">
                <a:solidFill>
                  <a:srgbClr val="FFFFFF"/>
                </a:solidFill>
                <a:latin typeface="Aptos"/>
              </a:rPr>
              <a:t>u</a:t>
            </a:r>
            <a:r>
              <a:rPr sz="3200" b="1" dirty="0">
                <a:solidFill>
                  <a:srgbClr val="FFFFFF"/>
                </a:solidFill>
                <a:latin typeface="Aptos"/>
              </a:rPr>
              <a:t>rna </a:t>
            </a:r>
            <a:r>
              <a:rPr sz="3200" b="1" dirty="0" err="1">
                <a:solidFill>
                  <a:srgbClr val="FFFFFF"/>
                </a:solidFill>
                <a:latin typeface="Aptos"/>
              </a:rPr>
              <a:t>Pinnamaneni</a:t>
            </a:r>
            <a:r>
              <a:rPr sz="3200" b="1" dirty="0">
                <a:solidFill>
                  <a:srgbClr val="FFFFFF"/>
                </a:solidFill>
                <a:latin typeface="Aptos"/>
              </a:rPr>
              <a:t>  </a:t>
            </a:r>
            <a:br>
              <a:rPr sz="3200" b="1" dirty="0">
                <a:solidFill>
                  <a:srgbClr val="FFFFFF"/>
                </a:solidFill>
                <a:latin typeface="Aptos"/>
              </a:rPr>
            </a:br>
            <a:r>
              <a:rPr sz="3200" b="1" dirty="0" err="1">
                <a:solidFill>
                  <a:srgbClr val="FFFFFF"/>
                </a:solidFill>
                <a:latin typeface="Aptos"/>
              </a:rPr>
              <a:t>Ketha</a:t>
            </a:r>
            <a:r>
              <a:rPr sz="32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ptos"/>
              </a:rPr>
              <a:t>Trivikram</a:t>
            </a:r>
            <a:r>
              <a:rPr sz="3200" b="1" dirty="0">
                <a:solidFill>
                  <a:srgbClr val="FFFFFF"/>
                </a:solidFill>
                <a:latin typeface="Aptos"/>
              </a:rPr>
              <a:t>  </a:t>
            </a:r>
          </a:p>
          <a:p>
            <a:pPr algn="r">
              <a:spcAft>
                <a:spcPts val="0"/>
              </a:spcAft>
            </a:pPr>
            <a:r>
              <a:rPr sz="3200" b="1" dirty="0">
                <a:solidFill>
                  <a:srgbClr val="FFFFFF"/>
                </a:solidFill>
                <a:latin typeface="Aptos"/>
              </a:rPr>
              <a:t>Valle Ramesh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2410" b="1">
                <a:solidFill>
                  <a:srgbClr val="182744"/>
                </a:solidFill>
                <a:latin typeface="Aptos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241280" cy="32004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075">
                <a:solidFill>
                  <a:srgbClr val="2D3748"/>
                </a:solidFill>
                <a:latin typeface="Aptos"/>
              </a:rPr>
              <a:t>From the problem to the training process and real-world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2E5FA0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051560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219456" bIns="137160" rtlCol="0" anchor="t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73152" cy="868680"/>
          </a:xfrm>
          <a:prstGeom prst="rect">
            <a:avLst/>
          </a:prstGeom>
          <a:solidFill>
            <a:srgbClr val="2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435989"/>
            <a:ext cx="10149840" cy="384048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550" b="1">
                <a:solidFill>
                  <a:srgbClr val="182744"/>
                </a:solidFill>
                <a:latin typeface="Aptos"/>
              </a:rPr>
              <a:t>01  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42643"/>
            <a:ext cx="10131552" cy="118872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160">
                <a:solidFill>
                  <a:srgbClr val="2D3748"/>
                </a:solidFill>
                <a:latin typeface="Aptos"/>
              </a:rPr>
              <a:t>Where SSL fits • labeled vs unlabeled • definition • need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14600"/>
            <a:ext cx="1051560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219456" bIns="137160" rtlCol="0" anchor="t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514600"/>
            <a:ext cx="73152" cy="868680"/>
          </a:xfrm>
          <a:prstGeom prst="rect">
            <a:avLst/>
          </a:prstGeom>
          <a:solidFill>
            <a:srgbClr val="2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617724"/>
            <a:ext cx="10149840" cy="384048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550" b="1">
                <a:solidFill>
                  <a:srgbClr val="182744"/>
                </a:solidFill>
                <a:latin typeface="Aptos"/>
              </a:rPr>
              <a:t>02   Core 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017393"/>
            <a:ext cx="10131552" cy="118872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160">
                <a:solidFill>
                  <a:srgbClr val="2D3748"/>
                </a:solidFill>
                <a:latin typeface="Aptos"/>
              </a:rPr>
              <a:t>Why unlabeled data helps • workflow • pseudo-labeling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57600"/>
            <a:ext cx="1051560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219456" bIns="137160" rtlCol="0" anchor="t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657600"/>
            <a:ext cx="73152" cy="86868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709289"/>
            <a:ext cx="10149840" cy="384048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550" b="1">
                <a:solidFill>
                  <a:srgbClr val="182744"/>
                </a:solidFill>
                <a:latin typeface="Aptos"/>
              </a:rPr>
              <a:t>03   Approaches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128643"/>
            <a:ext cx="10131552" cy="118872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160">
                <a:solidFill>
                  <a:srgbClr val="2D3748"/>
                </a:solidFill>
                <a:latin typeface="Aptos"/>
              </a:rPr>
              <a:t>Self-training • co-training • graph-based • consistency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800600"/>
            <a:ext cx="1051560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55448" rIns="219456" bIns="137160" rtlCol="0" anchor="t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800600"/>
            <a:ext cx="73152" cy="86868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923409"/>
            <a:ext cx="10149840" cy="384048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550" b="1">
                <a:solidFill>
                  <a:srgbClr val="182744"/>
                </a:solidFill>
                <a:latin typeface="Aptos"/>
              </a:rPr>
              <a:t>04   Practical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5265293"/>
            <a:ext cx="10131552" cy="118872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160">
                <a:solidFill>
                  <a:srgbClr val="2D3748"/>
                </a:solidFill>
                <a:latin typeface="Aptos"/>
              </a:rPr>
              <a:t>Example • comparison • evaluation • trade-offs • applications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3748"/>
                </a:solidFill>
                <a:latin typeface="Aptos"/>
              </a:rPr>
              <a:t>Semi-Supervised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3748"/>
                </a:solidFill>
                <a:latin typeface="Aptos"/>
              </a:rPr>
              <a:t>Semi-Supervised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"/>
            <a:ext cx="106984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182744"/>
                </a:solidFill>
                <a:latin typeface="Aptos"/>
              </a:rPr>
              <a:t>1. Where Does SSL Fit in Machine Learning?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150" b="0">
                <a:solidFill>
                  <a:srgbClr val="6E7887"/>
                </a:solidFill>
                <a:latin typeface="Aptos"/>
              </a:rPr>
              <a:t>The key difference is how much labeled information is available.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1554480"/>
            <a:ext cx="34290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1554480"/>
            <a:ext cx="64008" cy="3474720"/>
          </a:xfrm>
          <a:prstGeom prst="rect">
            <a:avLst/>
          </a:prstGeom>
          <a:solidFill>
            <a:srgbClr val="2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1682495"/>
            <a:ext cx="301752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Supervised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374900"/>
            <a:ext cx="3017520" cy="20485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/>
            <a:r>
              <a:rPr b="0">
                <a:solidFill>
                  <a:srgbClr val="2D3748"/>
                </a:solidFill>
                <a:latin typeface="Aptos"/>
              </a:rPr>
              <a:t>Labeled data
X + y
Learns a mapping from inputs to known targets.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1554480"/>
            <a:ext cx="34290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70832" y="1554480"/>
            <a:ext cx="64008" cy="3474720"/>
          </a:xfrm>
          <a:prstGeom prst="rect">
            <a:avLst/>
          </a:prstGeom>
          <a:solidFill>
            <a:srgbClr val="2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99432" y="1682495"/>
            <a:ext cx="301752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Semi-Supervised 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453005"/>
            <a:ext cx="3017520" cy="197739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/>
            <a:r>
              <a:rPr b="0">
                <a:solidFill>
                  <a:srgbClr val="2D3748"/>
                </a:solidFill>
                <a:latin typeface="Aptos"/>
              </a:rPr>
              <a:t>Small labeled set
+
Large unlabeled set
Uses labels plus useful structure in the data.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5864" y="1554480"/>
            <a:ext cx="34290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55864" y="1554480"/>
            <a:ext cx="64008" cy="347472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84464" y="1682495"/>
            <a:ext cx="301752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Unsupervised Learning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4210" y="2486660"/>
            <a:ext cx="3017520" cy="1978025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ctr"/>
            <a:r>
              <a:rPr b="0">
                <a:solidFill>
                  <a:srgbClr val="2D3748"/>
                </a:solidFill>
                <a:latin typeface="Aptos"/>
              </a:rPr>
              <a:t>Unlabeled data
X only
Discovers patterns, groups or structure.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03120" y="5257800"/>
            <a:ext cx="8046720" cy="99758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103120" y="5257800"/>
            <a:ext cx="64008" cy="73152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31720" y="5304155"/>
            <a:ext cx="7635240" cy="4292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Important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679440"/>
            <a:ext cx="7635240" cy="1816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SSL is a learning paradigm / strategy — not one single algorithm.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3748"/>
                </a:solidFill>
                <a:latin typeface="Aptos"/>
              </a:rPr>
              <a:t>Semi-Supervised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"/>
            <a:ext cx="106984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182744"/>
                </a:solidFill>
                <a:latin typeface="Aptos"/>
              </a:rPr>
              <a:t>2. Labeled vs Unlabeled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150" b="0">
                <a:solidFill>
                  <a:srgbClr val="6E7887"/>
                </a:solidFill>
                <a:latin typeface="Aptos"/>
              </a:rPr>
              <a:t>Unlabeled data still contains features; what is missing is the target.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1554480"/>
            <a:ext cx="516636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1554480"/>
            <a:ext cx="64008" cy="3474720"/>
          </a:xfrm>
          <a:prstGeom prst="rect">
            <a:avLst/>
          </a:prstGeom>
          <a:solidFill>
            <a:srgbClr val="2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1682495"/>
            <a:ext cx="475488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Labeled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084831"/>
            <a:ext cx="4754880" cy="228790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0">
                <a:solidFill>
                  <a:srgbClr val="2D3748"/>
                </a:solidFill>
                <a:latin typeface="Aptos"/>
              </a:rPr>
              <a:t>Age     Charges     Tenure     Churn
25         799          12          Yes
42         499          48          No
31         699          24          Yes
X = features     y = known target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1554480"/>
            <a:ext cx="516636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1554480"/>
            <a:ext cx="64008" cy="347472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1682495"/>
            <a:ext cx="475488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Unlabeled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084831"/>
            <a:ext cx="4754880" cy="228790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0">
                <a:solidFill>
                  <a:srgbClr val="2D3748"/>
                </a:solidFill>
                <a:latin typeface="Aptos"/>
              </a:rPr>
              <a:t>Age     Charges     Tenure     Churn
28         599          18             ?
37         899          36             ?
52         399          72             ?
X = features     y = unknown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48840" y="5256530"/>
            <a:ext cx="7955280" cy="94805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148840" y="5257800"/>
            <a:ext cx="64008" cy="73152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77440" y="5262245"/>
            <a:ext cx="7543800" cy="47117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5669280"/>
            <a:ext cx="7543800" cy="319405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Unlabeled ≠ no information. Features are known; the target label is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3748"/>
                </a:solidFill>
                <a:latin typeface="Aptos"/>
              </a:rPr>
              <a:t>Semi-Supervised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"/>
            <a:ext cx="106984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182744"/>
                </a:solidFill>
                <a:latin typeface="Aptos"/>
              </a:rPr>
              <a:t>3. What Is Semi-Supervised Learning?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150" b="0">
                <a:solidFill>
                  <a:srgbClr val="6E7887"/>
                </a:solidFill>
                <a:latin typeface="Aptos"/>
              </a:rPr>
              <a:t>A small amount of supervision + a large amount of unlabeled information.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1691640"/>
            <a:ext cx="306324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1691640"/>
            <a:ext cx="64008" cy="1965960"/>
          </a:xfrm>
          <a:prstGeom prst="rect">
            <a:avLst/>
          </a:prstGeom>
          <a:solidFill>
            <a:srgbClr val="2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1819656"/>
            <a:ext cx="265176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1. Few labeled examples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2221992"/>
            <a:ext cx="2651760" cy="6261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Reliable examples with known targets.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886200" y="2331720"/>
            <a:ext cx="640080" cy="411480"/>
          </a:xfrm>
          <a:prstGeom prst="rightArrow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617720" y="1691640"/>
            <a:ext cx="306324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617720" y="1691640"/>
            <a:ext cx="64008" cy="1965960"/>
          </a:xfrm>
          <a:prstGeom prst="rect">
            <a:avLst/>
          </a:prstGeom>
          <a:solidFill>
            <a:srgbClr val="2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0" y="1819656"/>
            <a:ext cx="265176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2. Large unlabeled pool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221992"/>
            <a:ext cx="2651760" cy="90297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Many examples with features, but no target label.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772400" y="2331720"/>
            <a:ext cx="640080" cy="411480"/>
          </a:xfrm>
          <a:prstGeom prst="rightArrow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503920" y="1691640"/>
            <a:ext cx="274320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503920" y="1691640"/>
            <a:ext cx="64008" cy="196596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32520" y="1819656"/>
            <a:ext cx="233172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3. SSL method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221992"/>
            <a:ext cx="2331720" cy="90297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Combines both sources to improve learning.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17320" y="4160520"/>
            <a:ext cx="93268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417320" y="4160520"/>
            <a:ext cx="64008" cy="123444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645920" y="4288536"/>
            <a:ext cx="891540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Core Definition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4690872"/>
            <a:ext cx="8915400" cy="6261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Semi-Supervised Learning trains a model using a small labeled dataset together with a much larger unlabeled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2121408" y="6144769"/>
            <a:ext cx="7845552" cy="398145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400">
                <a:solidFill>
                  <a:srgbClr val="2D3748"/>
                </a:solidFill>
                <a:latin typeface="Aptos"/>
              </a:rPr>
              <a:t>Reduce dependence on large amounts of manually labeled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3748"/>
                </a:solidFill>
                <a:latin typeface="Aptos"/>
              </a:rPr>
              <a:t>Semi-Supervised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"/>
            <a:ext cx="106984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182744"/>
                </a:solidFill>
                <a:latin typeface="Aptos"/>
              </a:rPr>
              <a:t>4. Why Do We Need SSL?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150" b="0">
                <a:solidFill>
                  <a:srgbClr val="6E7887"/>
                </a:solidFill>
                <a:latin typeface="Aptos"/>
              </a:rPr>
              <a:t>In many real problems, labeling is the bottleneck.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1600200"/>
            <a:ext cx="5166360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1600200"/>
            <a:ext cx="64008" cy="2514600"/>
          </a:xfrm>
          <a:prstGeom prst="rect">
            <a:avLst/>
          </a:prstGeom>
          <a:solidFill>
            <a:srgbClr val="2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1728216"/>
            <a:ext cx="475488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Labeled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130552"/>
            <a:ext cx="4754880" cy="9956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000" b="0">
                <a:solidFill>
                  <a:srgbClr val="2D3748"/>
                </a:solidFill>
                <a:latin typeface="Aptos"/>
              </a:rPr>
              <a:t>• Often requires experts
• Time-consuming to verify
• Can be expensive at scale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1600200"/>
            <a:ext cx="5166360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1600200"/>
            <a:ext cx="64008" cy="2514600"/>
          </a:xfrm>
          <a:prstGeom prst="rect">
            <a:avLst/>
          </a:prstGeom>
          <a:solidFill>
            <a:srgbClr val="2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1728216"/>
            <a:ext cx="475488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Unlabeled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130552"/>
            <a:ext cx="4754880" cy="9956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000" b="0">
                <a:solidFill>
                  <a:srgbClr val="2D3748"/>
                </a:solidFill>
                <a:latin typeface="Aptos"/>
              </a:rPr>
              <a:t>• Often abundant
• Easy to collect or generate
• Still contains useful features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17320" y="4480560"/>
            <a:ext cx="93268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417320" y="4480560"/>
            <a:ext cx="64008" cy="123444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45920" y="4608576"/>
            <a:ext cx="891540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Example: Medical Imaging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5010912"/>
            <a:ext cx="8915400" cy="6261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A hospital may have many X-rays but only a small subset labeled by specialists. SSL can use both the reviewed cases and the larger unlabeled pool.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3748"/>
                </a:solidFill>
                <a:latin typeface="Aptos"/>
              </a:rPr>
              <a:t>Semi-Supervised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02920"/>
            <a:ext cx="106984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182744"/>
                </a:solidFill>
                <a:latin typeface="Aptos"/>
              </a:rPr>
              <a:t>5. Why Can Unlabeled Data Help?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150" b="0">
                <a:solidFill>
                  <a:srgbClr val="6E7887"/>
                </a:solidFill>
                <a:latin typeface="Aptos"/>
              </a:rPr>
              <a:t>SSL relies on assumptions about similarity and data structure.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1554480"/>
            <a:ext cx="51663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1554480"/>
            <a:ext cx="64008" cy="1417320"/>
          </a:xfrm>
          <a:prstGeom prst="rect">
            <a:avLst/>
          </a:prstGeom>
          <a:solidFill>
            <a:srgbClr val="2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1682495"/>
            <a:ext cx="475488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Smoothness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2084831"/>
            <a:ext cx="4754880" cy="34925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Similar inputs are likely to have similar labels.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1554480"/>
            <a:ext cx="51663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09360" y="1554480"/>
            <a:ext cx="64008" cy="1417320"/>
          </a:xfrm>
          <a:prstGeom prst="rect">
            <a:avLst/>
          </a:prstGeom>
          <a:solidFill>
            <a:srgbClr val="2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1682495"/>
            <a:ext cx="475488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Cluster Assumption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2084831"/>
            <a:ext cx="4754880" cy="6261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Points in the same natural cluster tend to share a label.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246120"/>
            <a:ext cx="51663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85800" y="3246120"/>
            <a:ext cx="64008" cy="141732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3374136"/>
            <a:ext cx="475488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Low-Density Assumption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3776472"/>
            <a:ext cx="4754880" cy="6261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A useful decision boundary should prefer low-density regions.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3246120"/>
            <a:ext cx="51663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09360" y="3246120"/>
            <a:ext cx="64008" cy="141732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37960" y="3374136"/>
            <a:ext cx="475488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Manifold Assumption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3776472"/>
            <a:ext cx="4754880" cy="6261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High-dimensional data may have a simpler underlying structure.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74520" y="5074920"/>
            <a:ext cx="8412480" cy="10693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874519" y="5074920"/>
            <a:ext cx="64008" cy="777240"/>
          </a:xfrm>
          <a:prstGeom prst="rect">
            <a:avLst/>
          </a:prstGeom>
          <a:solidFill>
            <a:srgbClr val="2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03120" y="5202936"/>
            <a:ext cx="800100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Core Idea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5605145"/>
            <a:ext cx="8001000" cy="24765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Unlabeled examples can reveal similarity, clusters, density and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3748"/>
                </a:solidFill>
                <a:latin typeface="Aptos"/>
              </a:rPr>
              <a:t>Semi-Supervised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2920"/>
            <a:ext cx="106984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182744"/>
                </a:solidFill>
                <a:latin typeface="Aptos"/>
              </a:rPr>
              <a:t>6. How Does SSL Training Work?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150" b="0">
                <a:solidFill>
                  <a:srgbClr val="6E7887"/>
                </a:solidFill>
                <a:latin typeface="Aptos"/>
              </a:rPr>
              <a:t>A typical self-training workflow; other SSL methods use different mechanisms.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2011680"/>
            <a:ext cx="141732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" y="2011680"/>
            <a:ext cx="64008" cy="1554480"/>
          </a:xfrm>
          <a:prstGeom prst="rect">
            <a:avLst/>
          </a:prstGeom>
          <a:solidFill>
            <a:srgbClr val="2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1530" y="2326005"/>
            <a:ext cx="1273175" cy="76835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Labeled
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2437257"/>
            <a:ext cx="1005840" cy="8961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endParaRPr sz="1300" b="0">
              <a:solidFill>
                <a:srgbClr val="2D3748"/>
              </a:solidFill>
              <a:latin typeface="Aptos"/>
            </a:endParaRPr>
          </a:p>
        </p:txBody>
      </p:sp>
      <p:sp>
        <p:nvSpPr>
          <p:cNvPr id="34" name="Right Arrow 33"/>
          <p:cNvSpPr/>
          <p:nvPr/>
        </p:nvSpPr>
        <p:spPr>
          <a:xfrm>
            <a:off x="2057400" y="2542032"/>
            <a:ext cx="347472" cy="320040"/>
          </a:xfrm>
          <a:prstGeom prst="rightArrow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423160" y="2011680"/>
            <a:ext cx="141732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423160" y="2011680"/>
            <a:ext cx="64008" cy="1554480"/>
          </a:xfrm>
          <a:prstGeom prst="rect">
            <a:avLst/>
          </a:prstGeom>
          <a:solidFill>
            <a:srgbClr val="2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51760" y="2396490"/>
            <a:ext cx="1190625" cy="69977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Initial
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2542032"/>
            <a:ext cx="1005840" cy="8961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endParaRPr sz="1300" b="0">
              <a:solidFill>
                <a:srgbClr val="2D3748"/>
              </a:solidFill>
              <a:latin typeface="Aptos"/>
            </a:endParaRPr>
          </a:p>
        </p:txBody>
      </p:sp>
      <p:sp>
        <p:nvSpPr>
          <p:cNvPr id="39" name="Right Arrow 38"/>
          <p:cNvSpPr/>
          <p:nvPr/>
        </p:nvSpPr>
        <p:spPr>
          <a:xfrm>
            <a:off x="3886200" y="2542032"/>
            <a:ext cx="347472" cy="320040"/>
          </a:xfrm>
          <a:prstGeom prst="rightArrow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251960" y="2011680"/>
            <a:ext cx="141732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251960" y="2011680"/>
            <a:ext cx="64008" cy="1554480"/>
          </a:xfrm>
          <a:prstGeom prst="rect">
            <a:avLst/>
          </a:prstGeom>
          <a:solidFill>
            <a:srgbClr val="2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34510" y="2337435"/>
            <a:ext cx="1412875" cy="8559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Predict
Unlabeled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2542032"/>
            <a:ext cx="1005840" cy="8961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endParaRPr sz="1300" b="0">
              <a:solidFill>
                <a:srgbClr val="2D3748"/>
              </a:solidFill>
              <a:latin typeface="Aptos"/>
            </a:endParaRPr>
          </a:p>
        </p:txBody>
      </p:sp>
      <p:sp>
        <p:nvSpPr>
          <p:cNvPr id="44" name="Right Arrow 43"/>
          <p:cNvSpPr/>
          <p:nvPr/>
        </p:nvSpPr>
        <p:spPr>
          <a:xfrm>
            <a:off x="5715000" y="2542032"/>
            <a:ext cx="347472" cy="320040"/>
          </a:xfrm>
          <a:prstGeom prst="rightArrow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080760" y="2011680"/>
            <a:ext cx="141732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080760" y="2011680"/>
            <a:ext cx="64008" cy="155448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07125" y="2436495"/>
            <a:ext cx="1392555" cy="68707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Confidence
Check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2763012"/>
            <a:ext cx="1005840" cy="8961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endParaRPr sz="1300" b="0">
              <a:solidFill>
                <a:srgbClr val="2D3748"/>
              </a:solidFill>
              <a:latin typeface="Aptos"/>
            </a:endParaRPr>
          </a:p>
        </p:txBody>
      </p:sp>
      <p:sp>
        <p:nvSpPr>
          <p:cNvPr id="49" name="Right Arrow 48"/>
          <p:cNvSpPr/>
          <p:nvPr/>
        </p:nvSpPr>
        <p:spPr>
          <a:xfrm>
            <a:off x="7543800" y="2542032"/>
            <a:ext cx="347472" cy="320040"/>
          </a:xfrm>
          <a:prstGeom prst="rightArrow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909560" y="2011680"/>
            <a:ext cx="141732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909560" y="2011680"/>
            <a:ext cx="64008" cy="155448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92440" y="2565146"/>
            <a:ext cx="100584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Pseudo-
Labels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2542032"/>
            <a:ext cx="1005840" cy="8961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endParaRPr sz="1300" b="0">
              <a:solidFill>
                <a:srgbClr val="2D3748"/>
              </a:solidFill>
              <a:latin typeface="Aptos"/>
            </a:endParaRPr>
          </a:p>
        </p:txBody>
      </p:sp>
      <p:sp>
        <p:nvSpPr>
          <p:cNvPr id="54" name="Right Arrow 53"/>
          <p:cNvSpPr/>
          <p:nvPr/>
        </p:nvSpPr>
        <p:spPr>
          <a:xfrm>
            <a:off x="9372600" y="2542032"/>
            <a:ext cx="347472" cy="320040"/>
          </a:xfrm>
          <a:prstGeom prst="rightArrow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738360" y="2011680"/>
            <a:ext cx="141732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738360" y="2011680"/>
            <a:ext cx="64008" cy="1554480"/>
          </a:xfrm>
          <a:prstGeom prst="rect">
            <a:avLst/>
          </a:prstGeom>
          <a:solidFill>
            <a:srgbClr val="2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966960" y="2249170"/>
            <a:ext cx="1005840" cy="833755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Retrain /
Refine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6960" y="2542032"/>
            <a:ext cx="1005840" cy="8961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endParaRPr sz="1300" b="0">
              <a:solidFill>
                <a:srgbClr val="2D3748"/>
              </a:solidFill>
              <a:latin typeface="Aptos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1280160" y="4069080"/>
            <a:ext cx="969264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280160" y="4069080"/>
            <a:ext cx="64008" cy="132588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508760" y="4197096"/>
            <a:ext cx="928116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Important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08760" y="4599432"/>
            <a:ext cx="9281160" cy="6675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  <a:latin typeface="Aptos"/>
              </a:rPr>
              <a:t>The unlabeled prediction has no ground-truth target. SSL creates another learning signal — such as pseudo-labels, graph relationships, or consistency.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3748"/>
                </a:solidFill>
                <a:latin typeface="Aptos"/>
              </a:rPr>
              <a:t>Semi-Supervised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2920"/>
            <a:ext cx="106984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182744"/>
                </a:solidFill>
                <a:latin typeface="Aptos"/>
              </a:rPr>
              <a:t>7. Self-Training &amp; Pseudo-Labeling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150" b="0">
                <a:solidFill>
                  <a:srgbClr val="6E7887"/>
                </a:solidFill>
                <a:latin typeface="Aptos"/>
              </a:rPr>
              <a:t>The model uses its own reliable predictions as additional labels.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1828800"/>
            <a:ext cx="2422525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4559" y="2152015"/>
            <a:ext cx="41148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800" b="1">
                <a:solidFill>
                  <a:srgbClr val="2E5FA0"/>
                </a:solidFill>
                <a:latin typeface="Apto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6175" y="2048510"/>
            <a:ext cx="2145665" cy="527685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b="1">
                <a:solidFill>
                  <a:srgbClr val="182744"/>
                </a:solidFill>
                <a:latin typeface="Aptos"/>
              </a:rPr>
              <a:t>Train on
labeled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1880" y="1828800"/>
            <a:ext cx="2395855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67125" y="2112645"/>
            <a:ext cx="41148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800" b="1">
                <a:solidFill>
                  <a:srgbClr val="2E5FA0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76065" y="1990090"/>
            <a:ext cx="1953260" cy="760095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/>
            <a:r>
              <a:rPr b="1">
                <a:solidFill>
                  <a:srgbClr val="182744"/>
                </a:solidFill>
                <a:latin typeface="Aptos"/>
              </a:rPr>
              <a:t>Predict
unlabeled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1828800"/>
            <a:ext cx="2417445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2152015"/>
            <a:ext cx="41148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800" b="1">
                <a:solidFill>
                  <a:srgbClr val="2E5FA0"/>
                </a:solidFill>
                <a:latin typeface="Apto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4330" y="1995805"/>
            <a:ext cx="2068195" cy="62611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b="1">
                <a:solidFill>
                  <a:srgbClr val="182744"/>
                </a:solidFill>
                <a:latin typeface="Aptos"/>
              </a:rPr>
              <a:t>Keep
confident cases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8280" y="1828800"/>
            <a:ext cx="2507615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17355" y="2125980"/>
            <a:ext cx="41148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800" b="1">
                <a:solidFill>
                  <a:srgbClr val="2E5FA0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2134234"/>
            <a:ext cx="1371600" cy="34925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b="1">
                <a:solidFill>
                  <a:srgbClr val="182744"/>
                </a:solidFill>
                <a:latin typeface="Aptos"/>
              </a:rPr>
              <a:t>Retrain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0160" y="3657600"/>
            <a:ext cx="93268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280160" y="3657600"/>
            <a:ext cx="64008" cy="150876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508760" y="3785615"/>
            <a:ext cx="891540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Pseudo-Label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8760" y="4187952"/>
            <a:ext cx="8915400" cy="6261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A label generated by the model for an originally unlabeled example.
Example: Image → Cat, confidence 97% → pseudo-label = Cat.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57400" y="5440680"/>
            <a:ext cx="7772400" cy="95948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057400" y="5440680"/>
            <a:ext cx="64008" cy="68580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286000" y="5568696"/>
            <a:ext cx="736092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Simple memory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0" y="5971032"/>
            <a:ext cx="7360920" cy="34925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Self-training = the model teaches itself using reliable predictions.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3748"/>
                </a:solidFill>
                <a:latin typeface="Aptos"/>
              </a:rPr>
              <a:t>Semi-Supervised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"/>
            <a:ext cx="106984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182744"/>
                </a:solidFill>
                <a:latin typeface="Aptos"/>
              </a:rPr>
              <a:t>8. Confidence Threshold &amp; Error Propagation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150" b="0">
                <a:solidFill>
                  <a:srgbClr val="6E7887"/>
                </a:solidFill>
                <a:latin typeface="Aptos"/>
              </a:rPr>
              <a:t>Pseudo-labels are useful only when we control their quality.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1600200"/>
            <a:ext cx="493776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1600200"/>
            <a:ext cx="64008" cy="2834640"/>
          </a:xfrm>
          <a:prstGeom prst="rect">
            <a:avLst/>
          </a:prstGeom>
          <a:solidFill>
            <a:srgbClr val="2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1728216"/>
            <a:ext cx="452628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Confidence Filtering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2130552"/>
            <a:ext cx="4526280" cy="201104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b="0">
                <a:solidFill>
                  <a:srgbClr val="2D3748"/>
                </a:solidFill>
                <a:latin typeface="Aptos"/>
              </a:rPr>
              <a:t>Prediction       Confidence
Cat                  98%       ✓
Dog                  96%       ✓
Cat                  53%       ✗
Dog                  61%       ✗
Example threshold = 90%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1600200"/>
            <a:ext cx="521208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80760" y="1600200"/>
            <a:ext cx="64008" cy="283464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1728216"/>
            <a:ext cx="480060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What Can Go Wrong?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130552"/>
            <a:ext cx="4800600" cy="201104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b="0">
                <a:solidFill>
                  <a:srgbClr val="2D3748"/>
                </a:solidFill>
                <a:latin typeface="Aptos"/>
              </a:rPr>
              <a:t>Wrong prediction
↓
Wrong pseudo-label
↓
Model trains on the mistake
↓
Mistake can influence future predictions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20240" y="4892040"/>
            <a:ext cx="86868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920240" y="4892040"/>
            <a:ext cx="64008" cy="91440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48840" y="5020055"/>
            <a:ext cx="827532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Important nuance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5422392"/>
            <a:ext cx="8275320" cy="28765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Aptos"/>
              </a:rPr>
              <a:t>A high-confidence prediction can still be wrong. Confidence is a control mechanism, not a guarantee.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3748"/>
                </a:solidFill>
                <a:latin typeface="Aptos"/>
              </a:rPr>
              <a:t>Semi-Supervised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02920"/>
            <a:ext cx="106984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182744"/>
                </a:solidFill>
                <a:latin typeface="Aptos"/>
              </a:rPr>
              <a:t>9. Other Major SSL Approaches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150" b="0">
                <a:solidFill>
                  <a:srgbClr val="6E7887"/>
                </a:solidFill>
                <a:latin typeface="Aptos"/>
              </a:rPr>
              <a:t>Different methods use the unlabeled data in different ways.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1554480"/>
            <a:ext cx="51663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1554480"/>
            <a:ext cx="64008" cy="1508760"/>
          </a:xfrm>
          <a:prstGeom prst="rect">
            <a:avLst/>
          </a:prstGeom>
          <a:solidFill>
            <a:srgbClr val="2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1682495"/>
            <a:ext cx="475488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Co-Training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2084831"/>
            <a:ext cx="4754880" cy="6261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Two learners use different feature views and can provide reliable labels for each other.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1554480"/>
            <a:ext cx="51663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09360" y="1554480"/>
            <a:ext cx="64008" cy="1508760"/>
          </a:xfrm>
          <a:prstGeom prst="rect">
            <a:avLst/>
          </a:prstGeom>
          <a:solidFill>
            <a:srgbClr val="2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1682495"/>
            <a:ext cx="475488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Multi-View Learning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2084831"/>
            <a:ext cx="4754880" cy="6261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The same item can have multiple useful views, such as text + image.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337560"/>
            <a:ext cx="51663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85800" y="3337560"/>
            <a:ext cx="64008" cy="150876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3465576"/>
            <a:ext cx="475488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Graph-Based Learning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3867911"/>
            <a:ext cx="4754880" cy="6261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Data points become nodes; similar points are connected, allowing labels to propagate.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3337560"/>
            <a:ext cx="51663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09360" y="3337560"/>
            <a:ext cx="64008" cy="150876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37960" y="3465576"/>
            <a:ext cx="475488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Consistency Regularization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3867911"/>
            <a:ext cx="4754880" cy="6261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Small input changes should produce similar predictions.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28800" y="5120005"/>
            <a:ext cx="8503920" cy="11607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828800" y="5257800"/>
            <a:ext cx="64008" cy="685800"/>
          </a:xfrm>
          <a:prstGeom prst="rect">
            <a:avLst/>
          </a:prstGeom>
          <a:solidFill>
            <a:srgbClr val="2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057400" y="5385816"/>
            <a:ext cx="809244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Unifying idea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5788025"/>
            <a:ext cx="8092440" cy="426085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All approaches try to extract a useful learning signal from unlabeled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3748"/>
                </a:solidFill>
                <a:latin typeface="Aptos"/>
              </a:rPr>
              <a:t>Semi-Supervised 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02920"/>
            <a:ext cx="106984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182744"/>
                </a:solidFill>
                <a:latin typeface="Aptos"/>
              </a:rPr>
              <a:t>10. Complete Example: Fraud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150" b="0">
                <a:solidFill>
                  <a:srgbClr val="6E7887"/>
                </a:solidFill>
                <a:latin typeface="Aptos"/>
              </a:rPr>
              <a:t>Confirmed labels can be scarce while transaction history is huge.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1645920"/>
            <a:ext cx="32461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" y="1645920"/>
            <a:ext cx="64008" cy="1828800"/>
          </a:xfrm>
          <a:prstGeom prst="rect">
            <a:avLst/>
          </a:prstGeom>
          <a:solidFill>
            <a:srgbClr val="2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1773936"/>
            <a:ext cx="2834639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Few confirmed labels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2176272"/>
            <a:ext cx="2834639" cy="93408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Aptos"/>
              </a:rPr>
              <a:t>Confirmed fraud + legitimate cases
Human / investigation-reviewed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4069080" y="2331720"/>
            <a:ext cx="640080" cy="411480"/>
          </a:xfrm>
          <a:prstGeom prst="rightArrow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709160" y="1645920"/>
            <a:ext cx="32461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709160" y="1645920"/>
            <a:ext cx="64008" cy="1828800"/>
          </a:xfrm>
          <a:prstGeom prst="rect">
            <a:avLst/>
          </a:prstGeom>
          <a:solidFill>
            <a:srgbClr val="2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37760" y="1773936"/>
            <a:ext cx="2834639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Large unlabeled 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2176272"/>
            <a:ext cx="2834639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Aptos"/>
              </a:rPr>
              <a:t>Historical transactions without confirmed labels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8138160" y="2331720"/>
            <a:ext cx="640080" cy="411480"/>
          </a:xfrm>
          <a:prstGeom prst="rightArrow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778240" y="1645920"/>
            <a:ext cx="23317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778240" y="1645920"/>
            <a:ext cx="64008" cy="182880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06840" y="1773936"/>
            <a:ext cx="1920239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SSL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2176272"/>
            <a:ext cx="1920239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Aptos"/>
              </a:rPr>
              <a:t>Learn from both sources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5840" y="3977639"/>
            <a:ext cx="987552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05840" y="3977639"/>
            <a:ext cx="64008" cy="100584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34440" y="4105655"/>
            <a:ext cx="946404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Important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4440" y="4507992"/>
            <a:ext cx="946404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  <a:latin typeface="Aptos"/>
              </a:rPr>
              <a:t>Unlabeled ≠ automatically legitimate.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5840" y="5166360"/>
            <a:ext cx="98755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05840" y="5166360"/>
            <a:ext cx="64008" cy="86868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234440" y="5294376"/>
            <a:ext cx="946404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Business outcome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34440" y="5696712"/>
            <a:ext cx="9464040" cy="21031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  <a:latin typeface="Aptos"/>
              </a:rPr>
              <a:t>Use available labels more efficiently to improve detection — while validating carefully because pseudo-label errors can be costly.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3748"/>
                </a:solidFill>
                <a:latin typeface="Aptos"/>
              </a:rPr>
              <a:t>Semi-Supervised 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02920"/>
            <a:ext cx="106984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182744"/>
                </a:solidFill>
                <a:latin typeface="Aptos"/>
              </a:rPr>
              <a:t>11. Supervised vs Semi-Supervised vs Unsupervised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150" b="0">
                <a:solidFill>
                  <a:srgbClr val="6E7887"/>
                </a:solidFill>
                <a:latin typeface="Aptos"/>
              </a:rPr>
              <a:t>Compare them by labels, data used and goal.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31520" y="1691640"/>
          <a:ext cx="107899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Aspect</a:t>
                      </a:r>
                    </a:p>
                  </a:txBody>
                  <a:tcPr>
                    <a:solidFill>
                      <a:srgbClr val="18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Supervised</a:t>
                      </a:r>
                    </a:p>
                  </a:txBody>
                  <a:tcPr>
                    <a:solidFill>
                      <a:srgbClr val="18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Semi-Supervised</a:t>
                      </a:r>
                    </a:p>
                  </a:txBody>
                  <a:tcPr>
                    <a:solidFill>
                      <a:srgbClr val="18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Unsupervised</a:t>
                      </a:r>
                    </a:p>
                  </a:txBody>
                  <a:tcPr>
                    <a:solidFill>
                      <a:srgbClr val="18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3748"/>
                          </a:solidFill>
                          <a:latin typeface="Aptos"/>
                        </a:rPr>
                        <a:t>Labels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3748"/>
                          </a:solidFill>
                          <a:latin typeface="Aptos"/>
                        </a:rPr>
                        <a:t>Known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3748"/>
                          </a:solidFill>
                          <a:latin typeface="Aptos"/>
                        </a:rPr>
                        <a:t>Some known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3748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3748"/>
                          </a:solidFill>
                          <a:latin typeface="Aptos"/>
                        </a:rPr>
                        <a:t>Data 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3748"/>
                          </a:solidFill>
                          <a:latin typeface="Aptos"/>
                        </a:rPr>
                        <a:t>Labeled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3748"/>
                          </a:solidFill>
                          <a:latin typeface="Aptos"/>
                        </a:rPr>
                        <a:t>Labeled + unlabeled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3748"/>
                          </a:solidFill>
                          <a:latin typeface="Aptos"/>
                        </a:rPr>
                        <a:t>Unlabeled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3748"/>
                          </a:solidFill>
                          <a:latin typeface="Aptos"/>
                        </a:rPr>
                        <a:t>Main goal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3748"/>
                          </a:solidFill>
                          <a:latin typeface="Aptos"/>
                        </a:rPr>
                        <a:t>Predict target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3748"/>
                          </a:solidFill>
                          <a:latin typeface="Aptos"/>
                        </a:rPr>
                        <a:t>Improve prediction using both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3748"/>
                          </a:solidFill>
                          <a:latin typeface="Aptos"/>
                        </a:rPr>
                        <a:t>Discover structure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3748"/>
                          </a:solidFill>
                          <a:latin typeface="Aptos"/>
                        </a:rPr>
                        <a:t>Examples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3748"/>
                          </a:solidFill>
                          <a:latin typeface="Aptos"/>
                        </a:rPr>
                        <a:t>Classification,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3748"/>
                          </a:solidFill>
                          <a:latin typeface="Aptos"/>
                        </a:rPr>
                        <a:t>SSL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3748"/>
                          </a:solidFill>
                          <a:latin typeface="Aptos"/>
                        </a:rPr>
                        <a:t>Clustering, dimensionality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1600200" y="5486400"/>
            <a:ext cx="8961120" cy="81089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600200" y="5486400"/>
            <a:ext cx="64008" cy="64008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828800" y="5614416"/>
            <a:ext cx="854964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Key distinction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5962015"/>
            <a:ext cx="8549640" cy="35433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/>
            <a:r>
              <a:rPr sz="1600" b="0">
                <a:solidFill>
                  <a:srgbClr val="2D3748"/>
                </a:solidFill>
                <a:latin typeface="Aptos"/>
              </a:rPr>
              <a:t>The defining difference is label availability and how unlabeled data is used.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3748"/>
                </a:solidFill>
                <a:latin typeface="Aptos"/>
              </a:rPr>
              <a:t>Semi-Supervised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"/>
            <a:ext cx="1069848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600" b="1">
                <a:solidFill>
                  <a:srgbClr val="182744"/>
                </a:solidFill>
                <a:latin typeface="Aptos"/>
              </a:rPr>
              <a:t>12. Evaluation, Trade-offs &amp; 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960120"/>
            <a:ext cx="105156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150" b="0">
                <a:solidFill>
                  <a:srgbClr val="6E7887"/>
                </a:solidFill>
                <a:latin typeface="Aptos"/>
              </a:rPr>
              <a:t>SSL is useful when the assumptions hold — but it must still be validated.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1554480"/>
            <a:ext cx="352044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1554480"/>
            <a:ext cx="64008" cy="3337560"/>
          </a:xfrm>
          <a:prstGeom prst="rect">
            <a:avLst/>
          </a:prstGeom>
          <a:solidFill>
            <a:srgbClr val="2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1682495"/>
            <a:ext cx="310896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2084831"/>
            <a:ext cx="3108960" cy="228790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0">
                <a:solidFill>
                  <a:srgbClr val="2D3748"/>
                </a:solidFill>
                <a:latin typeface="Aptos"/>
              </a:rPr>
              <a:t>• Keep a labeled validation/test set
• Use suitable metrics
• Do not treat pseudo-labels as ground truth
• Compare with a supervised baseline
• Check whether unlabeled data improves performance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1554480"/>
            <a:ext cx="352044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43400" y="1554480"/>
            <a:ext cx="64008" cy="3337560"/>
          </a:xfrm>
          <a:prstGeom prst="rect">
            <a:avLst/>
          </a:prstGeom>
          <a:solidFill>
            <a:srgbClr val="2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0" y="1682495"/>
            <a:ext cx="310896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Strengths &amp; Limits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084831"/>
            <a:ext cx="3108960" cy="2565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Strengths
• Less labeling effort
• Uses abundant data
Limits
• Error propagation
• Depends on assumptions
• No guarantee of improvement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1554480"/>
            <a:ext cx="342900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46720" y="1554480"/>
            <a:ext cx="64008" cy="333756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1682495"/>
            <a:ext cx="301752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Applications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084831"/>
            <a:ext cx="3017520" cy="173418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b="0">
                <a:solidFill>
                  <a:srgbClr val="2D3748"/>
                </a:solidFill>
                <a:latin typeface="Aptos"/>
              </a:rPr>
              <a:t>• Medical imaging
• Image / face recognition
• Speech recognition
• Text classification
• Fraud &amp; security
• Web/content classification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92935" y="5250815"/>
            <a:ext cx="8595360" cy="89598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828800" y="5257800"/>
            <a:ext cx="76200" cy="897255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057400" y="5290566"/>
            <a:ext cx="8183880" cy="34747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82744"/>
                </a:solidFill>
                <a:latin typeface="Aptos"/>
              </a:rPr>
              <a:t>Best fit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629275"/>
            <a:ext cx="8183880" cy="314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/>
            <a:r>
              <a:rPr sz="1300" b="0">
                <a:solidFill>
                  <a:srgbClr val="2D3748"/>
                </a:solidFill>
                <a:latin typeface="Aptos"/>
              </a:rPr>
              <a:t>Few reliable labels + lots of useful unlabeled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7225" y="5796280"/>
            <a:ext cx="8314055" cy="714375"/>
          </a:xfrm>
          <a:prstGeom prst="rect">
            <a:avLst/>
          </a:prstGeom>
          <a:noFill/>
        </p:spPr>
        <p:txBody>
          <a:bodyPr wrap="square" lIns="164592" tIns="91440" rIns="164592" bIns="91440">
            <a:no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2D3748"/>
                </a:solidFill>
                <a:latin typeface="Aptos"/>
              </a:rPr>
              <a:t>Use SSL when labeling is the bottleneck and the unlabeled data contains structure relevant to the target.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 algn="ctr">
              <a:spcAft>
                <a:spcPts val="0"/>
              </a:spcAft>
            </a:pPr>
            <a:r>
              <a:rPr sz="2065">
                <a:solidFill>
                  <a:srgbClr val="DCE6F2"/>
                </a:solidFill>
                <a:latin typeface="Aptos"/>
              </a:rPr>
              <a:t>Any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548640"/>
          </a:xfrm>
          <a:prstGeom prst="rect">
            <a:avLst/>
          </a:prstGeom>
          <a:noFill/>
        </p:spPr>
        <p:txBody>
          <a:bodyPr wrap="square" lIns="164592" tIns="91440" rIns="164592" bIns="91440">
            <a:spAutoFit/>
          </a:bodyPr>
          <a:lstStyle/>
          <a:p>
            <a:pPr algn="ctr">
              <a:spcAft>
                <a:spcPts val="0"/>
              </a:spcAft>
            </a:pPr>
            <a:r>
              <a:rPr sz="1375">
                <a:solidFill>
                  <a:srgbClr val="FFFFFF"/>
                </a:solidFill>
                <a:latin typeface="Aptos"/>
              </a:rPr>
              <a:t>Annapoorna Pinnamaneni  •  Ketha Trivikram  •  Valle Ramesh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6914</Words>
  <Application>Microsoft Office PowerPoint</Application>
  <PresentationFormat>Widescreen</PresentationFormat>
  <Paragraphs>343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dc:description>generated using python-pptx</dc:description>
  <cp:lastModifiedBy>228T1A05D8</cp:lastModifiedBy>
  <cp:revision>10</cp:revision>
  <dcterms:created xsi:type="dcterms:W3CDTF">2013-01-27T09:14:00Z</dcterms:created>
  <dcterms:modified xsi:type="dcterms:W3CDTF">2026-10-08T17:16:39Z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1033-12.1.0.28096</vt:lpwstr>
  </property>
  <property fmtid="{D5CDD505-2E9C-101B-9397-08002B2CF9AE}" pid="3" name="ICV">
    <vt:lpwstr>232D3FA7CEF04BF988BA81AA987C332E_12</vt:lpwstr>
  </property>
</Properties>
</file>